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Override1.xml" ContentType="application/vnd.openxmlformats-officedocument.themeOverr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76" r:id="rId3"/>
    <p:sldId id="258" r:id="rId4"/>
    <p:sldId id="257" r:id="rId5"/>
    <p:sldId id="264" r:id="rId6"/>
    <p:sldId id="265" r:id="rId7"/>
    <p:sldId id="259" r:id="rId8"/>
    <p:sldId id="260" r:id="rId9"/>
    <p:sldId id="261" r:id="rId10"/>
    <p:sldId id="262" r:id="rId11"/>
    <p:sldId id="266" r:id="rId12"/>
    <p:sldId id="267" r:id="rId13"/>
    <p:sldId id="268" r:id="rId14"/>
    <p:sldId id="269" r:id="rId15"/>
    <p:sldId id="270" r:id="rId16"/>
    <p:sldId id="272" r:id="rId17"/>
    <p:sldId id="273" r:id="rId18"/>
    <p:sldId id="277" r:id="rId19"/>
    <p:sldId id="278" r:id="rId20"/>
    <p:sldId id="282" r:id="rId21"/>
    <p:sldId id="283" r:id="rId22"/>
    <p:sldId id="280" r:id="rId23"/>
    <p:sldId id="275" r:id="rId2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00" autoAdjust="0"/>
    <p:restoredTop sz="94660"/>
  </p:normalViewPr>
  <p:slideViewPr>
    <p:cSldViewPr snapToGrid="0">
      <p:cViewPr varScale="1">
        <p:scale>
          <a:sx n="62" d="100"/>
          <a:sy n="62" d="100"/>
        </p:scale>
        <p:origin x="760" y="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sp>
          <p:nvSpPr>
            <p:cNvPr id="15" name="Freeform 14"/>
            <p:cNvSpPr/>
            <p:nvPr/>
          </p:nvSpPr>
          <p:spPr>
            <a:xfrm>
              <a:off x="0" y="-7862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cxnSp>
          <p:nvCxnSpPr>
            <p:cNvPr id="19" name="Straight Connector 18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2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3" name="Isosceles Triangle 22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4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5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6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7" name="Isosceles Triangle 26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D2787D-CDB9-4037-98CF-BE61853DF3E8}" type="datetimeFigureOut">
              <a:rPr lang="en-US" smtClean="0"/>
              <a:t>1/1/2026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4E82A0-98DB-41EB-A811-B28FD485716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D2787D-CDB9-4037-98CF-BE61853DF3E8}" type="datetimeFigureOut">
              <a:rPr lang="en-US" smtClean="0"/>
              <a:t>1/1/2026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4E82A0-98DB-41EB-A811-B28FD485716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D2787D-CDB9-4037-98CF-BE61853DF3E8}" type="datetimeFigureOut">
              <a:rPr lang="en-US" smtClean="0"/>
              <a:t>1/1/2026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4E82A0-98DB-41EB-A811-B28FD485716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D2787D-CDB9-4037-98CF-BE61853DF3E8}" type="datetimeFigureOut">
              <a:rPr lang="en-US" smtClean="0"/>
              <a:t>1/1/2026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4E82A0-98DB-41EB-A811-B28FD485716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D2787D-CDB9-4037-98CF-BE61853DF3E8}" type="datetimeFigureOut">
              <a:rPr lang="en-US" smtClean="0"/>
              <a:t>1/1/2026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4E82A0-98DB-41EB-A811-B28FD485716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D2787D-CDB9-4037-98CF-BE61853DF3E8}" type="datetimeFigureOut">
              <a:rPr lang="en-US" smtClean="0"/>
              <a:t>1/1/2026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4E82A0-98DB-41EB-A811-B28FD485716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D2787D-CDB9-4037-98CF-BE61853DF3E8}" type="datetimeFigureOut">
              <a:rPr lang="en-US" smtClean="0"/>
              <a:t>1/1/2026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4E82A0-98DB-41EB-A811-B28FD485716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0965" indent="0">
              <a:buNone/>
              <a:defRPr sz="1000"/>
            </a:lvl4pPr>
            <a:lvl5pPr marL="1828165" indent="0">
              <a:buNone/>
              <a:defRPr sz="1000"/>
            </a:lvl5pPr>
            <a:lvl6pPr marL="2285365" indent="0">
              <a:buNone/>
              <a:defRPr sz="1000"/>
            </a:lvl6pPr>
            <a:lvl7pPr marL="2742565" indent="0">
              <a:buNone/>
              <a:defRPr sz="1000"/>
            </a:lvl7pPr>
            <a:lvl8pPr marL="3199130" indent="0">
              <a:buNone/>
              <a:defRPr sz="1000"/>
            </a:lvl8pPr>
            <a:lvl9pPr marL="365633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D2787D-CDB9-4037-98CF-BE61853DF3E8}" type="datetimeFigureOut">
              <a:rPr lang="en-US" smtClean="0"/>
              <a:t>1/1/2026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4E82A0-98DB-41EB-A811-B28FD485716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4E82A0-98DB-41EB-A811-B28FD4857160}" type="slidenum">
              <a:rPr lang="en-US" smtClean="0"/>
              <a:t>‹#›</a:t>
            </a:fld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D2787D-CDB9-4037-98CF-BE61853DF3E8}" type="datetimeFigureOut">
              <a:rPr lang="en-US" smtClean="0"/>
              <a:t>1/1/2026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D2787D-CDB9-4037-98CF-BE61853DF3E8}" type="datetimeFigureOut">
              <a:rPr lang="en-US" smtClean="0"/>
              <a:t>1/1/2026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4E82A0-98DB-41EB-A811-B28FD485716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D2787D-CDB9-4037-98CF-BE61853DF3E8}" type="datetimeFigureOut">
              <a:rPr lang="en-US" smtClean="0"/>
              <a:t>1/1/2026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4E82A0-98DB-41EB-A811-B28FD4857160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 panose="020B0604020202020204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 panose="020B0604020202020204"/>
              </a:rPr>
              <a:t>”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D2787D-CDB9-4037-98CF-BE61853DF3E8}" type="datetimeFigureOut">
              <a:rPr lang="en-US" smtClean="0"/>
              <a:t>1/1/2026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4E82A0-98DB-41EB-A811-B28FD485716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D2787D-CDB9-4037-98CF-BE61853DF3E8}" type="datetimeFigureOut">
              <a:rPr lang="en-US" smtClean="0"/>
              <a:t>1/1/2026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4E82A0-98DB-41EB-A811-B28FD4857160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 panose="020B0604020202020204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 panose="020B0604020202020204"/>
              </a:rPr>
              <a:t>”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D2787D-CDB9-4037-98CF-BE61853DF3E8}" type="datetimeFigureOut">
              <a:rPr lang="en-US" smtClean="0"/>
              <a:t>1/1/2026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4E82A0-98DB-41EB-A811-B28FD485716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D2787D-CDB9-4037-98CF-BE61853DF3E8}" type="datetimeFigureOut">
              <a:rPr lang="en-US" smtClean="0"/>
              <a:t>1/1/2026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4E82A0-98DB-41EB-A811-B28FD485716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D2787D-CDB9-4037-98CF-BE61853DF3E8}" type="datetimeFigureOut">
              <a:rPr lang="en-US" smtClean="0"/>
              <a:t>1/1/2026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4E82A0-98DB-41EB-A811-B28FD485716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9" name="Isosceles Triangle 1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0D2787D-CDB9-4037-98CF-BE61853DF3E8}" type="datetimeFigureOut">
              <a:rPr lang="en-US" smtClean="0"/>
              <a:t>1/1/2026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2B4E82A0-98DB-41EB-A811-B28FD4857160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panose="05040102010807070707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panose="05040102010807070707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panose="05040102010807070707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panose="05040102010807070707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panose="05040102010807070707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panose="05040102010807070707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panose="05040102010807070707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panose="05040102010807070707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panose="05040102010807070707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1386840"/>
            <a:ext cx="7766936" cy="2663996"/>
          </a:xfrm>
        </p:spPr>
        <p:txBody>
          <a:bodyPr/>
          <a:lstStyle/>
          <a:p>
            <a:r>
              <a:rPr lang="en-US" b="1" u="sng" dirty="0" smtClean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Spatial Indexing System Using </a:t>
            </a:r>
            <a:r>
              <a:rPr lang="en-US" b="1" u="sng" dirty="0" err="1" smtClean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QuadTree</a:t>
            </a:r>
            <a:endParaRPr lang="en-US" b="1" u="sng" dirty="0">
              <a:solidFill>
                <a:schemeClr val="accent2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41544" y="430530"/>
            <a:ext cx="8596668" cy="1320800"/>
          </a:xfrm>
        </p:spPr>
        <p:txBody>
          <a:bodyPr>
            <a:noAutofit/>
          </a:bodyPr>
          <a:lstStyle/>
          <a:p>
            <a:r>
              <a:rPr lang="en-US" sz="5400" b="1" u="sng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Group Members:</a:t>
            </a:r>
            <a:br>
              <a:rPr lang="en-US" sz="5400" b="1" u="sng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5400" b="1" u="sng" dirty="0">
              <a:solidFill>
                <a:schemeClr val="accent2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charset="0"/>
              <a:buChar char="Ø"/>
            </a:pPr>
            <a:r>
              <a:rPr lang="it-IT" sz="24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Saba </a:t>
            </a:r>
            <a:r>
              <a:rPr lang="it-IT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it-IT" sz="24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atool(FA24B1-CS-018</a:t>
            </a:r>
            <a:r>
              <a:rPr lang="it-IT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US" sz="24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charset="0"/>
              <a:buChar char="Ø"/>
            </a:pPr>
            <a:r>
              <a:rPr lang="en-US" sz="24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Minahil</a:t>
            </a:r>
            <a:r>
              <a:rPr lang="en-US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Khan(FA24B1-CS-067</a:t>
            </a:r>
            <a:r>
              <a:rPr lang="en-US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>
              <a:buFont typeface="Wingdings" panose="05000000000000000000" charset="0"/>
              <a:buChar char="Ø"/>
            </a:pPr>
            <a:r>
              <a:rPr lang="en-US" sz="2400" b="1" dirty="0" err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Manahil</a:t>
            </a:r>
            <a:r>
              <a:rPr lang="en-US" sz="24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 err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Hareem</a:t>
            </a:r>
            <a:r>
              <a:rPr lang="en-US" sz="24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(FA24B1-CS-055)</a:t>
            </a:r>
          </a:p>
          <a:p>
            <a:pPr>
              <a:buFont typeface="Wingdings" panose="05000000000000000000" charset="0"/>
              <a:buChar char="Ø"/>
            </a:pPr>
            <a:r>
              <a:rPr lang="en-US" sz="24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Yusra Rana(FA24B1-CS-000)</a:t>
            </a:r>
            <a:endParaRPr lang="en-US" sz="24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charset="0"/>
              <a:buChar char="Ø"/>
            </a:pPr>
            <a:endParaRPr lang="en-US" sz="24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charset="0"/>
              <a:buChar char="Ø"/>
            </a:pPr>
            <a:endParaRPr lang="en-US" sz="24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3119" y="520065"/>
            <a:ext cx="9336091" cy="1320800"/>
          </a:xfrm>
        </p:spPr>
        <p:txBody>
          <a:bodyPr>
            <a:normAutofit/>
          </a:bodyPr>
          <a:lstStyle/>
          <a:p>
            <a:pPr algn="l">
              <a:buClrTx/>
              <a:buSzTx/>
              <a:buFontTx/>
            </a:pPr>
            <a:r>
              <a:rPr lang="en-US" sz="5400" b="1" u="sng" dirty="0" smtClean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endParaRPr lang="en-US" sz="5400" b="1" u="sng" dirty="0">
              <a:solidFill>
                <a:schemeClr val="accent2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53119" y="2127129"/>
            <a:ext cx="7887970" cy="3404870"/>
          </a:xfrm>
          <a:ln w="28575"/>
        </p:spPr>
        <p:style>
          <a:lnRef idx="2">
            <a:schemeClr val="accent2"/>
          </a:lnRef>
          <a:fillRef idx="2">
            <a:schemeClr val="accent2"/>
          </a:fillRef>
          <a:effectRef idx="0">
            <a:srgbClr val="FFFFFF"/>
          </a:effectRef>
          <a:fontRef idx="minor">
            <a:schemeClr val="lt1"/>
          </a:fontRef>
        </p:style>
        <p:txBody>
          <a:bodyPr/>
          <a:lstStyle/>
          <a:p>
            <a:pPr>
              <a:lnSpc>
                <a:spcPct val="90000"/>
              </a:lnSpc>
              <a:buClr>
                <a:srgbClr val="236292"/>
              </a:buClr>
            </a:pPr>
            <a:r>
              <a:rPr lang="en-US" sz="2200" dirty="0">
                <a:ln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Modern applications like Google Maps, Uber, and Facebook need fast location searching</a:t>
            </a:r>
          </a:p>
          <a:p>
            <a:pPr>
              <a:lnSpc>
                <a:spcPct val="90000"/>
              </a:lnSpc>
              <a:buClr>
                <a:srgbClr val="236292"/>
              </a:buClr>
            </a:pPr>
            <a:r>
              <a:rPr lang="en-US" sz="2200" dirty="0">
                <a:ln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Handling thousands of locations efficiently is difficult with simple arrays</a:t>
            </a:r>
          </a:p>
          <a:p>
            <a:pPr>
              <a:lnSpc>
                <a:spcPct val="90000"/>
              </a:lnSpc>
              <a:buClr>
                <a:srgbClr val="236292"/>
              </a:buClr>
            </a:pPr>
            <a:r>
              <a:rPr lang="en-US" sz="2200" dirty="0">
                <a:ln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Spatial Indexing helps organize data based on coordinates</a:t>
            </a:r>
          </a:p>
          <a:p>
            <a:pPr>
              <a:lnSpc>
                <a:spcPct val="90000"/>
              </a:lnSpc>
              <a:buClr>
                <a:srgbClr val="236292"/>
              </a:buClr>
            </a:pPr>
            <a:r>
              <a:rPr lang="en-US" sz="2200" dirty="0" err="1">
                <a:ln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QuadTree</a:t>
            </a:r>
            <a:r>
              <a:rPr lang="en-US" sz="2200" dirty="0">
                <a:ln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is a powerful data structure for this purpose</a:t>
            </a:r>
          </a:p>
          <a:p>
            <a:pPr>
              <a:buClr>
                <a:srgbClr val="236292"/>
              </a:buClr>
              <a:buFont typeface="Wingdings" panose="05000000000000000000" charset="0"/>
              <a:buChar char="l"/>
            </a:pPr>
            <a:endParaRPr lang="en-US" sz="2400" dirty="0">
              <a:ln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5400" b="1" u="sng" dirty="0" smtClean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What is </a:t>
            </a:r>
            <a:r>
              <a:rPr lang="en-US" sz="5400" b="1" u="sng" dirty="0" err="1" smtClean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Spacial</a:t>
            </a:r>
            <a:r>
              <a:rPr lang="en-US" sz="5400" b="1" u="sng" dirty="0" smtClean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Indexing?</a:t>
            </a:r>
            <a:endParaRPr lang="en-US" sz="5400" b="1" u="sng" dirty="0">
              <a:solidFill>
                <a:schemeClr val="accent2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51281" y="2060321"/>
            <a:ext cx="7851775" cy="3426079"/>
          </a:xfrm>
        </p:spPr>
        <p:style>
          <a:lnRef idx="2">
            <a:schemeClr val="accent2"/>
          </a:lnRef>
          <a:fillRef idx="2">
            <a:schemeClr val="accent2"/>
          </a:fillRef>
          <a:effectRef idx="0">
            <a:srgbClr val="FFFFFF"/>
          </a:effectRef>
          <a:fontRef idx="minor">
            <a:schemeClr val="lt1"/>
          </a:fontRef>
        </p:style>
        <p:txBody>
          <a:bodyPr>
            <a:normAutofit lnSpcReduction="10000"/>
          </a:bodyPr>
          <a:lstStyle/>
          <a:p>
            <a:pPr>
              <a:buClr>
                <a:srgbClr val="236292"/>
              </a:buClr>
            </a:pPr>
            <a:r>
              <a:rPr lang="en-US" sz="2200" dirty="0">
                <a:ln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>
                <a:ln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Technique to store and search data using geographical </a:t>
            </a:r>
            <a:r>
              <a:rPr lang="en-US" sz="2200" dirty="0">
                <a:ln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coordinates</a:t>
            </a:r>
          </a:p>
          <a:p>
            <a:pPr>
              <a:buClr>
                <a:srgbClr val="236292"/>
              </a:buClr>
            </a:pPr>
            <a:r>
              <a:rPr lang="en-US" sz="2200" dirty="0">
                <a:ln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Data is organized based on location instead of </a:t>
            </a:r>
            <a:r>
              <a:rPr lang="en-US" sz="2200" dirty="0">
                <a:ln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sequence</a:t>
            </a:r>
          </a:p>
          <a:p>
            <a:pPr lvl="0" fontAlgn="base">
              <a:buClr>
                <a:srgbClr val="236292"/>
              </a:buClr>
            </a:pPr>
            <a:r>
              <a:rPr lang="en-US" sz="2000" u="sng" dirty="0">
                <a:ln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Used </a:t>
            </a:r>
            <a:r>
              <a:rPr lang="en-US" sz="2000" u="sng" dirty="0">
                <a:ln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in:</a:t>
            </a:r>
          </a:p>
          <a:p>
            <a:pPr lvl="0" fontAlgn="base">
              <a:buClr>
                <a:srgbClr val="236292"/>
              </a:buClr>
            </a:pPr>
            <a:r>
              <a:rPr lang="en-US" altLang="en-US" sz="2200" dirty="0">
                <a:ln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Maps</a:t>
            </a:r>
            <a:endParaRPr lang="en-US" altLang="en-US" sz="2200" dirty="0">
              <a:ln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fontAlgn="base">
              <a:buClr>
                <a:srgbClr val="236292"/>
              </a:buClr>
            </a:pPr>
            <a:r>
              <a:rPr lang="en-US" altLang="en-US" sz="2200" dirty="0">
                <a:ln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Ride-sharing apps</a:t>
            </a:r>
          </a:p>
          <a:p>
            <a:pPr lvl="0" fontAlgn="base">
              <a:buClr>
                <a:srgbClr val="236292"/>
              </a:buClr>
            </a:pPr>
            <a:r>
              <a:rPr lang="en-US" altLang="en-US" sz="2200" dirty="0">
                <a:ln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Emergency systems</a:t>
            </a:r>
          </a:p>
          <a:p>
            <a:pPr lvl="0" fontAlgn="base">
              <a:buClr>
                <a:srgbClr val="236292"/>
              </a:buClr>
            </a:pPr>
            <a:r>
              <a:rPr lang="en-US" altLang="en-US" sz="2200" dirty="0">
                <a:ln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Social media nearby features</a:t>
            </a:r>
          </a:p>
          <a:p>
            <a:pPr>
              <a:buClr>
                <a:srgbClr val="236292"/>
              </a:buClr>
            </a:pPr>
            <a:endParaRPr lang="en-US" sz="2400" dirty="0" smtClean="0"/>
          </a:p>
          <a:p>
            <a:pPr>
              <a:buClr>
                <a:srgbClr val="236292"/>
              </a:buClr>
            </a:pPr>
            <a:endParaRPr lang="en-US" sz="2400" dirty="0" smtClean="0">
              <a:ln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9734" y="609600"/>
            <a:ext cx="8596668" cy="1320800"/>
          </a:xfrm>
        </p:spPr>
        <p:txBody>
          <a:bodyPr>
            <a:noAutofit/>
          </a:bodyPr>
          <a:lstStyle/>
          <a:p>
            <a:pPr algn="l">
              <a:buClrTx/>
              <a:buSzTx/>
              <a:buFontTx/>
            </a:pPr>
            <a:r>
              <a:rPr lang="en-US" sz="5400" b="1" u="sng" dirty="0" smtClean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Why </a:t>
            </a:r>
            <a:r>
              <a:rPr lang="en-US" sz="5400" b="1" u="sng" dirty="0" err="1" smtClean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QuadTree</a:t>
            </a:r>
            <a:r>
              <a:rPr lang="en-US" sz="5400" b="1" u="sng" dirty="0" smtClean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?</a:t>
            </a:r>
            <a:r>
              <a:rPr lang="en-US" sz="5400" b="1" u="sng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sz="5400" b="1" u="sng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5400" b="1" u="sng" dirty="0">
              <a:solidFill>
                <a:schemeClr val="accent2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31520" y="1990725"/>
            <a:ext cx="8067040" cy="3531235"/>
          </a:xfrm>
        </p:spPr>
        <p:style>
          <a:lnRef idx="2">
            <a:schemeClr val="accent2"/>
          </a:lnRef>
          <a:fillRef idx="2">
            <a:schemeClr val="accent2"/>
          </a:fillRef>
          <a:effectRef idx="0">
            <a:srgbClr val="FFFFFF"/>
          </a:effectRef>
          <a:fontRef idx="minor">
            <a:schemeClr val="lt1"/>
          </a:fontRef>
        </p:style>
        <p:txBody>
          <a:bodyPr/>
          <a:lstStyle/>
          <a:p>
            <a:pPr lvl="0" fontAlgn="base">
              <a:buClr>
                <a:srgbClr val="236292"/>
              </a:buClr>
            </a:pPr>
            <a:r>
              <a:rPr lang="en-US" altLang="en-US" sz="2200" dirty="0">
                <a:ln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Divides 2D space into four equal regions</a:t>
            </a:r>
          </a:p>
          <a:p>
            <a:pPr lvl="0" fontAlgn="base">
              <a:buClr>
                <a:srgbClr val="236292"/>
              </a:buClr>
            </a:pPr>
            <a:r>
              <a:rPr lang="en-US" altLang="en-US" sz="2200" dirty="0">
                <a:ln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Reduces search time significantly</a:t>
            </a:r>
          </a:p>
          <a:p>
            <a:pPr lvl="0" fontAlgn="base">
              <a:buClr>
                <a:srgbClr val="236292"/>
              </a:buClr>
            </a:pPr>
            <a:r>
              <a:rPr lang="en-US" altLang="en-US" sz="2200" u="sng" dirty="0">
                <a:ln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Efficient for:</a:t>
            </a:r>
          </a:p>
          <a:p>
            <a:pPr lvl="0" fontAlgn="base">
              <a:buClr>
                <a:srgbClr val="236292"/>
              </a:buClr>
            </a:pPr>
            <a:r>
              <a:rPr lang="en-US" altLang="en-US" sz="2200" dirty="0">
                <a:ln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Range queries</a:t>
            </a:r>
          </a:p>
          <a:p>
            <a:pPr lvl="0" fontAlgn="base">
              <a:buClr>
                <a:srgbClr val="236292"/>
              </a:buClr>
            </a:pPr>
            <a:r>
              <a:rPr lang="en-US" altLang="en-US" sz="2200" dirty="0">
                <a:ln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Nearest neighbor search</a:t>
            </a:r>
          </a:p>
          <a:p>
            <a:pPr lvl="0" fontAlgn="base">
              <a:buClr>
                <a:srgbClr val="236292"/>
              </a:buClr>
            </a:pPr>
            <a:r>
              <a:rPr lang="en-US" altLang="en-US" sz="2200" dirty="0">
                <a:ln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Large spatial datasets</a:t>
            </a:r>
          </a:p>
          <a:p>
            <a:pPr>
              <a:buClr>
                <a:srgbClr val="236292"/>
              </a:buClr>
            </a:pPr>
            <a:endParaRPr lang="en-US" sz="2400" dirty="0">
              <a:ln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82769" y="537845"/>
            <a:ext cx="8596668" cy="1320800"/>
          </a:xfrm>
        </p:spPr>
        <p:txBody>
          <a:bodyPr>
            <a:noAutofit/>
          </a:bodyPr>
          <a:lstStyle/>
          <a:p>
            <a:r>
              <a:rPr lang="en-US" sz="5400" b="1" u="sng" dirty="0" smtClean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What is </a:t>
            </a:r>
            <a:r>
              <a:rPr lang="en-US" sz="5400" b="1" u="sng" dirty="0" err="1" smtClean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QuadTree</a:t>
            </a:r>
            <a:r>
              <a:rPr lang="en-US" sz="5400" b="1" u="sng" dirty="0" smtClean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?</a:t>
            </a:r>
            <a:endParaRPr lang="en-US" sz="5400" b="1" u="sng" dirty="0">
              <a:solidFill>
                <a:schemeClr val="accent2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0958" y="1858645"/>
            <a:ext cx="7995285" cy="4079818"/>
          </a:xfrm>
        </p:spPr>
        <p:style>
          <a:lnRef idx="2">
            <a:schemeClr val="accent2"/>
          </a:lnRef>
          <a:fillRef idx="2">
            <a:schemeClr val="accent2"/>
          </a:fillRef>
          <a:effectRef idx="0">
            <a:srgbClr val="FFFFFF"/>
          </a:effectRef>
          <a:fontRef idx="minor">
            <a:schemeClr val="lt1"/>
          </a:fontRef>
        </p:style>
        <p:txBody>
          <a:bodyPr>
            <a:normAutofit lnSpcReduction="10000"/>
          </a:bodyPr>
          <a:lstStyle/>
          <a:p>
            <a:pPr>
              <a:buClr>
                <a:srgbClr val="236292"/>
              </a:buClr>
            </a:pPr>
            <a:endParaRPr lang="en-US" sz="2400" dirty="0">
              <a:ln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fontAlgn="base">
              <a:buClr>
                <a:srgbClr val="236292"/>
              </a:buClr>
            </a:pPr>
            <a:r>
              <a:rPr lang="en-US" altLang="en-US" sz="2200" dirty="0">
                <a:ln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A tree-based data structure</a:t>
            </a:r>
          </a:p>
          <a:p>
            <a:pPr fontAlgn="base">
              <a:buClr>
                <a:srgbClr val="236292"/>
              </a:buClr>
            </a:pPr>
            <a:r>
              <a:rPr lang="en-US" altLang="en-US" sz="2200" dirty="0">
                <a:ln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Each node represents a rectangular area</a:t>
            </a:r>
          </a:p>
          <a:p>
            <a:pPr fontAlgn="base">
              <a:buClr>
                <a:srgbClr val="236292"/>
              </a:buClr>
            </a:pPr>
            <a:r>
              <a:rPr lang="en-US" altLang="en-US" sz="2200" dirty="0">
                <a:ln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Each node can have 4 children:</a:t>
            </a:r>
          </a:p>
          <a:p>
            <a:pPr fontAlgn="base">
              <a:buClr>
                <a:srgbClr val="236292"/>
              </a:buClr>
            </a:pPr>
            <a:r>
              <a:rPr lang="en-US" altLang="en-US" sz="2200" dirty="0">
                <a:ln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North-East</a:t>
            </a:r>
          </a:p>
          <a:p>
            <a:pPr fontAlgn="base">
              <a:buClr>
                <a:srgbClr val="236292"/>
              </a:buClr>
            </a:pPr>
            <a:r>
              <a:rPr lang="en-US" altLang="en-US" sz="2200" dirty="0">
                <a:ln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North-West</a:t>
            </a:r>
          </a:p>
          <a:p>
            <a:pPr fontAlgn="base">
              <a:buClr>
                <a:srgbClr val="236292"/>
              </a:buClr>
            </a:pPr>
            <a:r>
              <a:rPr lang="en-US" altLang="en-US" sz="2200" dirty="0">
                <a:ln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South-East</a:t>
            </a:r>
          </a:p>
          <a:p>
            <a:pPr fontAlgn="base">
              <a:buClr>
                <a:srgbClr val="236292"/>
              </a:buClr>
            </a:pPr>
            <a:r>
              <a:rPr lang="en-US" altLang="en-US" sz="2200" dirty="0">
                <a:ln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South-West</a:t>
            </a:r>
          </a:p>
          <a:p>
            <a:pPr fontAlgn="base">
              <a:buClr>
                <a:srgbClr val="236292"/>
              </a:buClr>
            </a:pPr>
            <a:r>
              <a:rPr lang="en-US" altLang="en-US" sz="2200" dirty="0">
                <a:ln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Used for 2D spatial data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43734" y="609600"/>
            <a:ext cx="8330267" cy="1320800"/>
          </a:xfrm>
        </p:spPr>
        <p:txBody>
          <a:bodyPr/>
          <a:lstStyle/>
          <a:p>
            <a:r>
              <a:rPr lang="en-US" sz="5400" b="1" u="sng" dirty="0" smtClean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Objective:</a:t>
            </a:r>
            <a:endParaRPr lang="en-US" sz="5400" b="1" u="sng" dirty="0">
              <a:solidFill>
                <a:schemeClr val="accent2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43735" y="1930400"/>
            <a:ext cx="8063865" cy="3083389"/>
          </a:xfrm>
        </p:spPr>
        <p:style>
          <a:lnRef idx="2">
            <a:schemeClr val="accent2"/>
          </a:lnRef>
          <a:fillRef idx="2">
            <a:schemeClr val="accent2"/>
          </a:fillRef>
          <a:effectRef idx="0">
            <a:srgbClr val="FFFFFF"/>
          </a:effectRef>
          <a:fontRef idx="minor">
            <a:schemeClr val="lt1"/>
          </a:fontRef>
        </p:style>
        <p:txBody>
          <a:bodyPr>
            <a:scene3d>
              <a:camera prst="orthographicFront"/>
              <a:lightRig rig="threePt" dir="t"/>
            </a:scene3d>
          </a:bodyPr>
          <a:lstStyle/>
          <a:p>
            <a:pPr marL="0" lvl="0" indent="0" fontAlgn="base">
              <a:lnSpc>
                <a:spcPct val="80000"/>
              </a:lnSpc>
              <a:buClr>
                <a:srgbClr val="236292"/>
              </a:buClr>
              <a:buNone/>
            </a:pPr>
            <a:r>
              <a:rPr lang="en-US" sz="2400" dirty="0" smtClean="0">
                <a:ln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lvl="0" fontAlgn="base">
              <a:lnSpc>
                <a:spcPct val="80000"/>
              </a:lnSpc>
              <a:buClr>
                <a:srgbClr val="236292"/>
              </a:buClr>
            </a:pPr>
            <a:r>
              <a:rPr lang="en-US" altLang="en-US" sz="2200" dirty="0" smtClean="0">
                <a:ln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Implement </a:t>
            </a:r>
            <a:r>
              <a:rPr lang="en-US" altLang="en-US" sz="2200" dirty="0" err="1">
                <a:ln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QuadTree</a:t>
            </a:r>
            <a:r>
              <a:rPr lang="en-US" altLang="en-US" sz="2200" dirty="0">
                <a:ln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in C++</a:t>
            </a:r>
          </a:p>
          <a:p>
            <a:pPr lvl="0" fontAlgn="base">
              <a:lnSpc>
                <a:spcPct val="80000"/>
              </a:lnSpc>
              <a:buClr>
                <a:srgbClr val="236292"/>
              </a:buClr>
            </a:pPr>
            <a:r>
              <a:rPr lang="en-US" altLang="en-US" sz="2200" dirty="0">
                <a:ln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Store spatial location data</a:t>
            </a:r>
          </a:p>
          <a:p>
            <a:pPr lvl="0" fontAlgn="base">
              <a:lnSpc>
                <a:spcPct val="80000"/>
              </a:lnSpc>
              <a:buClr>
                <a:srgbClr val="236292"/>
              </a:buClr>
            </a:pPr>
            <a:r>
              <a:rPr lang="en-US" altLang="en-US" sz="2200" dirty="0">
                <a:ln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Enable fast search and counting</a:t>
            </a:r>
          </a:p>
          <a:p>
            <a:pPr lvl="0" fontAlgn="base">
              <a:lnSpc>
                <a:spcPct val="80000"/>
              </a:lnSpc>
              <a:buClr>
                <a:srgbClr val="236292"/>
              </a:buClr>
            </a:pPr>
            <a:r>
              <a:rPr lang="en-US" altLang="en-US" sz="2200" dirty="0">
                <a:ln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Apply </a:t>
            </a:r>
            <a:r>
              <a:rPr lang="en-US" altLang="en-US" sz="2200" dirty="0" err="1">
                <a:ln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QuadTree</a:t>
            </a:r>
            <a:r>
              <a:rPr lang="en-US" altLang="en-US" sz="2200" dirty="0">
                <a:ln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to real-world cases</a:t>
            </a:r>
          </a:p>
          <a:p>
            <a:pPr lvl="0" fontAlgn="base">
              <a:lnSpc>
                <a:spcPct val="80000"/>
              </a:lnSpc>
              <a:buClr>
                <a:srgbClr val="236292"/>
              </a:buClr>
            </a:pPr>
            <a:r>
              <a:rPr lang="en-US" altLang="en-US" sz="2200" dirty="0">
                <a:ln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Add GUI for interaction and visualization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97890" y="483870"/>
            <a:ext cx="8155940" cy="1857375"/>
          </a:xfrm>
        </p:spPr>
        <p:txBody>
          <a:bodyPr>
            <a:noAutofit/>
          </a:bodyPr>
          <a:lstStyle/>
          <a:p>
            <a:r>
              <a:rPr lang="en-US" sz="5400" b="1" u="sng" dirty="0" smtClean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Technologies Used:</a:t>
            </a:r>
            <a:endParaRPr lang="en-US" sz="5400" b="1" u="sng" dirty="0">
              <a:solidFill>
                <a:schemeClr val="accent2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97890" y="1746607"/>
            <a:ext cx="8155940" cy="4643919"/>
          </a:xfrm>
        </p:spPr>
        <p:style>
          <a:lnRef idx="2">
            <a:schemeClr val="accent2"/>
          </a:lnRef>
          <a:fillRef idx="2">
            <a:schemeClr val="accent2"/>
          </a:fillRef>
          <a:effectRef idx="0">
            <a:srgbClr val="FFFFFF"/>
          </a:effectRef>
          <a:fontRef idx="minor">
            <a:schemeClr val="lt1"/>
          </a:fontRef>
        </p:style>
        <p:txBody>
          <a:bodyPr>
            <a:normAutofit fontScale="92500" lnSpcReduction="20000"/>
          </a:bodyPr>
          <a:lstStyle/>
          <a:p>
            <a:pPr>
              <a:buClr>
                <a:srgbClr val="236292"/>
              </a:buClr>
              <a:buFont typeface="Wingdings" panose="05000000000000000000" charset="0"/>
              <a:buChar char="l"/>
            </a:pPr>
            <a:endParaRPr lang="en-US" sz="2400" dirty="0">
              <a:ln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fontAlgn="base">
              <a:buClr>
                <a:srgbClr val="236292"/>
              </a:buClr>
            </a:pPr>
            <a:r>
              <a:rPr lang="en-US" sz="2400" dirty="0">
                <a:ln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dirty="0">
                <a:ln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Programming Language: C++</a:t>
            </a:r>
          </a:p>
          <a:p>
            <a:pPr fontAlgn="base">
              <a:buClr>
                <a:srgbClr val="236292"/>
              </a:buClr>
            </a:pPr>
            <a:r>
              <a:rPr lang="en-US" altLang="en-US" sz="2400" u="sng" dirty="0">
                <a:ln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Core Concepts:</a:t>
            </a:r>
          </a:p>
          <a:p>
            <a:pPr fontAlgn="base">
              <a:buClr>
                <a:srgbClr val="236292"/>
              </a:buClr>
            </a:pPr>
            <a:r>
              <a:rPr lang="en-US" altLang="en-US" sz="2400" dirty="0">
                <a:ln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Structures</a:t>
            </a:r>
          </a:p>
          <a:p>
            <a:pPr fontAlgn="base">
              <a:buClr>
                <a:srgbClr val="236292"/>
              </a:buClr>
            </a:pPr>
            <a:r>
              <a:rPr lang="en-US" altLang="en-US" sz="2400" dirty="0">
                <a:ln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Classes</a:t>
            </a:r>
          </a:p>
          <a:p>
            <a:pPr fontAlgn="base">
              <a:buClr>
                <a:srgbClr val="236292"/>
              </a:buClr>
            </a:pPr>
            <a:r>
              <a:rPr lang="en-US" altLang="en-US" sz="2400" dirty="0">
                <a:ln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Pointers</a:t>
            </a:r>
          </a:p>
          <a:p>
            <a:pPr fontAlgn="base">
              <a:buClr>
                <a:srgbClr val="236292"/>
              </a:buClr>
            </a:pPr>
            <a:r>
              <a:rPr lang="en-US" altLang="en-US" sz="2400" dirty="0">
                <a:ln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Recursion</a:t>
            </a:r>
          </a:p>
          <a:p>
            <a:pPr fontAlgn="base">
              <a:buClr>
                <a:srgbClr val="236292"/>
              </a:buClr>
            </a:pPr>
            <a:r>
              <a:rPr lang="en-US" altLang="en-US" sz="2400" dirty="0">
                <a:ln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Vectors</a:t>
            </a:r>
          </a:p>
          <a:p>
            <a:pPr fontAlgn="base">
              <a:buClr>
                <a:srgbClr val="236292"/>
              </a:buClr>
            </a:pPr>
            <a:r>
              <a:rPr lang="en-US" altLang="en-US" sz="2400" u="sng" dirty="0">
                <a:ln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Interface:</a:t>
            </a:r>
          </a:p>
          <a:p>
            <a:pPr fontAlgn="base">
              <a:buClr>
                <a:srgbClr val="236292"/>
              </a:buClr>
            </a:pPr>
            <a:r>
              <a:rPr lang="en-US" altLang="en-US" sz="2400" dirty="0">
                <a:ln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Console-based application</a:t>
            </a:r>
          </a:p>
          <a:p>
            <a:pPr fontAlgn="base">
              <a:buClr>
                <a:srgbClr val="236292"/>
              </a:buClr>
            </a:pPr>
            <a:r>
              <a:rPr lang="en-US" altLang="en-US" sz="2400" dirty="0">
                <a:ln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GUI (proposed for visualization &amp; interaction)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3" y="609600"/>
            <a:ext cx="8672149" cy="1198652"/>
          </a:xfrm>
        </p:spPr>
        <p:txBody>
          <a:bodyPr>
            <a:noAutofit/>
          </a:bodyPr>
          <a:lstStyle/>
          <a:p>
            <a:r>
              <a:rPr lang="en-US" sz="5400" b="1" u="sng" dirty="0" smtClean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Location Structure:</a:t>
            </a:r>
            <a:endParaRPr lang="en-US" sz="5400" b="1" u="sng" dirty="0">
              <a:solidFill>
                <a:schemeClr val="accent2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7545" y="2013735"/>
            <a:ext cx="7869555" cy="3740635"/>
          </a:xfrm>
        </p:spPr>
        <p:style>
          <a:lnRef idx="2">
            <a:schemeClr val="accent2"/>
          </a:lnRef>
          <a:fillRef idx="2">
            <a:schemeClr val="accent2"/>
          </a:fillRef>
          <a:effectRef idx="0">
            <a:srgbClr val="FFFFFF"/>
          </a:effectRef>
          <a:fontRef idx="minor">
            <a:schemeClr val="lt1"/>
          </a:fontRef>
        </p:style>
        <p:txBody>
          <a:bodyPr>
            <a:normAutofit/>
          </a:bodyPr>
          <a:lstStyle/>
          <a:p>
            <a:pPr>
              <a:buClr>
                <a:srgbClr val="236292"/>
              </a:buClr>
            </a:pPr>
            <a:endParaRPr lang="en-US" sz="2400" dirty="0">
              <a:ln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fontAlgn="base">
              <a:lnSpc>
                <a:spcPct val="90000"/>
              </a:lnSpc>
              <a:buClr>
                <a:srgbClr val="236292"/>
              </a:buClr>
            </a:pPr>
            <a:r>
              <a:rPr lang="en-US" sz="2400" dirty="0">
                <a:ln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>
                <a:ln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Each location contains:</a:t>
            </a:r>
          </a:p>
          <a:p>
            <a:pPr fontAlgn="base">
              <a:lnSpc>
                <a:spcPct val="90000"/>
              </a:lnSpc>
              <a:buClr>
                <a:srgbClr val="236292"/>
              </a:buClr>
            </a:pPr>
            <a:r>
              <a:rPr lang="en-US" sz="2000" dirty="0">
                <a:ln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Latitude (X coordinate)</a:t>
            </a:r>
          </a:p>
          <a:p>
            <a:pPr fontAlgn="base">
              <a:lnSpc>
                <a:spcPct val="90000"/>
              </a:lnSpc>
              <a:buClr>
                <a:srgbClr val="236292"/>
              </a:buClr>
            </a:pPr>
            <a:r>
              <a:rPr lang="en-US" sz="2000" dirty="0">
                <a:ln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Longitude (Y coordinate)</a:t>
            </a:r>
          </a:p>
          <a:p>
            <a:pPr fontAlgn="base">
              <a:lnSpc>
                <a:spcPct val="90000"/>
              </a:lnSpc>
              <a:buClr>
                <a:srgbClr val="236292"/>
              </a:buClr>
            </a:pPr>
            <a:r>
              <a:rPr lang="en-US" sz="2000" dirty="0">
                <a:ln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ID</a:t>
            </a:r>
          </a:p>
          <a:p>
            <a:pPr fontAlgn="base">
              <a:lnSpc>
                <a:spcPct val="90000"/>
              </a:lnSpc>
              <a:buClr>
                <a:srgbClr val="236292"/>
              </a:buClr>
            </a:pPr>
            <a:r>
              <a:rPr lang="en-US" sz="2000" dirty="0">
                <a:ln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Name</a:t>
            </a:r>
          </a:p>
          <a:p>
            <a:pPr fontAlgn="base">
              <a:lnSpc>
                <a:spcPct val="90000"/>
              </a:lnSpc>
              <a:buClr>
                <a:srgbClr val="236292"/>
              </a:buClr>
            </a:pPr>
            <a:r>
              <a:rPr lang="en-US" sz="2000" dirty="0">
                <a:ln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Type (CAB, USER, RESTAURANT, HOSPITAL)</a:t>
            </a:r>
          </a:p>
          <a:p>
            <a:pPr fontAlgn="base">
              <a:lnSpc>
                <a:spcPct val="90000"/>
              </a:lnSpc>
              <a:buClr>
                <a:srgbClr val="236292"/>
              </a:buClr>
            </a:pPr>
            <a:r>
              <a:rPr lang="en-US" sz="2000" dirty="0">
                <a:ln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Used </a:t>
            </a:r>
            <a:r>
              <a:rPr lang="en-US" sz="2000" dirty="0">
                <a:ln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to represent real-world entities</a:t>
            </a:r>
          </a:p>
          <a:p>
            <a:pPr>
              <a:buClr>
                <a:srgbClr val="236292"/>
              </a:buClr>
            </a:pPr>
            <a:endParaRPr lang="en-US" sz="2400" dirty="0">
              <a:ln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4625" y="463550"/>
            <a:ext cx="8597265" cy="1697355"/>
          </a:xfrm>
        </p:spPr>
        <p:txBody>
          <a:bodyPr>
            <a:noAutofit/>
          </a:bodyPr>
          <a:lstStyle/>
          <a:p>
            <a:pPr algn="ctr"/>
            <a:r>
              <a:rPr lang="en-US" sz="5400" b="1" u="sng" dirty="0" smtClean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Bounding Box Structure:</a:t>
            </a:r>
            <a:endParaRPr lang="en-US" sz="5400" b="1" u="sng" dirty="0">
              <a:solidFill>
                <a:schemeClr val="accent2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9120" y="1839074"/>
            <a:ext cx="7940675" cy="4173741"/>
          </a:xfrm>
        </p:spPr>
        <p:style>
          <a:lnRef idx="2">
            <a:schemeClr val="accent2"/>
          </a:lnRef>
          <a:fillRef idx="2">
            <a:schemeClr val="accent2"/>
          </a:fillRef>
          <a:effectRef idx="0">
            <a:srgbClr val="FFFFFF"/>
          </a:effectRef>
          <a:fontRef idx="minor">
            <a:schemeClr val="lt1"/>
          </a:fontRef>
        </p:style>
        <p:txBody>
          <a:bodyPr>
            <a:normAutofit fontScale="92500" lnSpcReduction="20000"/>
          </a:bodyPr>
          <a:lstStyle/>
          <a:p>
            <a:pPr>
              <a:buClr>
                <a:srgbClr val="236292"/>
              </a:buClr>
              <a:buFont typeface="Wingdings" panose="05000000000000000000" charset="0"/>
              <a:buChar char="q"/>
            </a:pPr>
            <a:endParaRPr lang="en-US" sz="2400" dirty="0">
              <a:ln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fontAlgn="base">
              <a:buClr>
                <a:srgbClr val="236292"/>
              </a:buClr>
            </a:pPr>
            <a:r>
              <a:rPr lang="en-US" sz="2400" dirty="0">
                <a:ln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dirty="0" smtClean="0">
                <a:ln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Defines </a:t>
            </a:r>
            <a:r>
              <a:rPr lang="en-US" altLang="en-US" sz="2400" dirty="0">
                <a:ln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a rectangular area</a:t>
            </a:r>
          </a:p>
          <a:p>
            <a:pPr lvl="0" fontAlgn="base">
              <a:buClr>
                <a:srgbClr val="236292"/>
              </a:buClr>
            </a:pPr>
            <a:r>
              <a:rPr lang="en-US" altLang="en-US" sz="2400" u="sng" dirty="0">
                <a:ln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Contains:</a:t>
            </a:r>
          </a:p>
          <a:p>
            <a:pPr lvl="0" fontAlgn="base">
              <a:buClr>
                <a:srgbClr val="236292"/>
              </a:buClr>
            </a:pPr>
            <a:r>
              <a:rPr lang="en-US" altLang="en-US" sz="2400" dirty="0">
                <a:ln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Center latitude</a:t>
            </a:r>
          </a:p>
          <a:p>
            <a:pPr lvl="0" fontAlgn="base">
              <a:buClr>
                <a:srgbClr val="236292"/>
              </a:buClr>
            </a:pPr>
            <a:r>
              <a:rPr lang="en-US" altLang="en-US" sz="2400" dirty="0">
                <a:ln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Center longitude</a:t>
            </a:r>
          </a:p>
          <a:p>
            <a:pPr lvl="0" fontAlgn="base">
              <a:buClr>
                <a:srgbClr val="236292"/>
              </a:buClr>
            </a:pPr>
            <a:r>
              <a:rPr lang="en-US" altLang="en-US" sz="2400" dirty="0">
                <a:ln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Half width</a:t>
            </a:r>
          </a:p>
          <a:p>
            <a:pPr lvl="0" fontAlgn="base">
              <a:buClr>
                <a:srgbClr val="236292"/>
              </a:buClr>
            </a:pPr>
            <a:r>
              <a:rPr lang="en-US" altLang="en-US" sz="2400" dirty="0">
                <a:ln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Half height</a:t>
            </a:r>
          </a:p>
          <a:p>
            <a:pPr lvl="0" fontAlgn="base">
              <a:buClr>
                <a:srgbClr val="236292"/>
              </a:buClr>
            </a:pPr>
            <a:r>
              <a:rPr lang="en-US" altLang="en-US" sz="2400" u="sng" dirty="0">
                <a:ln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Used to:</a:t>
            </a:r>
          </a:p>
          <a:p>
            <a:pPr lvl="0" fontAlgn="base">
              <a:buClr>
                <a:srgbClr val="236292"/>
              </a:buClr>
            </a:pPr>
            <a:r>
              <a:rPr lang="en-US" altLang="en-US" sz="2400" dirty="0">
                <a:ln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Check containment</a:t>
            </a:r>
          </a:p>
          <a:p>
            <a:pPr lvl="0" fontAlgn="base">
              <a:buClr>
                <a:srgbClr val="236292"/>
              </a:buClr>
            </a:pPr>
            <a:r>
              <a:rPr lang="en-US" altLang="en-US" sz="2400" dirty="0">
                <a:ln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Detect overlapping regions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00549" y="511175"/>
            <a:ext cx="8596668" cy="1320800"/>
          </a:xfrm>
        </p:spPr>
        <p:txBody>
          <a:bodyPr>
            <a:noAutofit/>
          </a:bodyPr>
          <a:lstStyle/>
          <a:p>
            <a:r>
              <a:rPr lang="en-US" sz="5400" b="1" u="sng" dirty="0" err="1" smtClean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QuadTree</a:t>
            </a:r>
            <a:r>
              <a:rPr lang="en-US" sz="5400" b="1" u="sng" dirty="0" smtClean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Node Structure:</a:t>
            </a:r>
            <a:endParaRPr lang="en-US" sz="5400" b="1" u="sng" dirty="0">
              <a:solidFill>
                <a:schemeClr val="accent2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00549" y="2098675"/>
            <a:ext cx="7806901" cy="3503295"/>
          </a:xfrm>
        </p:spPr>
        <p:style>
          <a:lnRef idx="2">
            <a:schemeClr val="accent2"/>
          </a:lnRef>
          <a:fillRef idx="2">
            <a:schemeClr val="accent2"/>
          </a:fillRef>
          <a:effectRef idx="0">
            <a:srgbClr val="FFFFFF"/>
          </a:effectRef>
          <a:fontRef idx="minor">
            <a:schemeClr val="lt1"/>
          </a:fontRef>
        </p:style>
        <p:txBody>
          <a:bodyPr>
            <a:normAutofit lnSpcReduction="10000"/>
          </a:bodyPr>
          <a:lstStyle/>
          <a:p>
            <a:pPr>
              <a:buClr>
                <a:srgbClr val="236292"/>
              </a:buClr>
            </a:pPr>
            <a:endParaRPr lang="en-US" sz="2400" dirty="0">
              <a:ln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fontAlgn="base">
              <a:lnSpc>
                <a:spcPct val="90000"/>
              </a:lnSpc>
              <a:buClr>
                <a:srgbClr val="236292"/>
              </a:buClr>
            </a:pPr>
            <a:r>
              <a:rPr lang="en-US" sz="2400" dirty="0">
                <a:ln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Each </a:t>
            </a:r>
            <a:r>
              <a:rPr lang="en-US" sz="2400" dirty="0" err="1">
                <a:ln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QuadTree</a:t>
            </a:r>
            <a:r>
              <a:rPr lang="en-US" sz="2400" dirty="0">
                <a:ln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node contains:</a:t>
            </a:r>
          </a:p>
          <a:p>
            <a:pPr fontAlgn="base">
              <a:lnSpc>
                <a:spcPct val="90000"/>
              </a:lnSpc>
              <a:buClr>
                <a:srgbClr val="236292"/>
              </a:buClr>
            </a:pPr>
            <a:r>
              <a:rPr lang="en-US" sz="2400" dirty="0">
                <a:ln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Boundary (Bounding Box)</a:t>
            </a:r>
          </a:p>
          <a:p>
            <a:pPr fontAlgn="base">
              <a:lnSpc>
                <a:spcPct val="90000"/>
              </a:lnSpc>
              <a:buClr>
                <a:srgbClr val="236292"/>
              </a:buClr>
            </a:pPr>
            <a:r>
              <a:rPr lang="en-US" sz="2400" dirty="0">
                <a:ln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Capacity (max locations)</a:t>
            </a:r>
          </a:p>
          <a:p>
            <a:pPr fontAlgn="base">
              <a:lnSpc>
                <a:spcPct val="90000"/>
              </a:lnSpc>
              <a:buClr>
                <a:srgbClr val="236292"/>
              </a:buClr>
            </a:pPr>
            <a:r>
              <a:rPr lang="en-US" sz="2400" dirty="0">
                <a:ln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Vector of locations</a:t>
            </a:r>
          </a:p>
          <a:p>
            <a:pPr fontAlgn="base">
              <a:lnSpc>
                <a:spcPct val="90000"/>
              </a:lnSpc>
              <a:buClr>
                <a:srgbClr val="236292"/>
              </a:buClr>
            </a:pPr>
            <a:r>
              <a:rPr lang="en-US" sz="2400" dirty="0">
                <a:ln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Depth level</a:t>
            </a:r>
          </a:p>
          <a:p>
            <a:pPr fontAlgn="base">
              <a:lnSpc>
                <a:spcPct val="90000"/>
              </a:lnSpc>
              <a:buClr>
                <a:srgbClr val="236292"/>
              </a:buClr>
            </a:pPr>
            <a:r>
              <a:rPr lang="en-US" sz="2400" dirty="0">
                <a:ln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Four child pointers</a:t>
            </a:r>
          </a:p>
          <a:p>
            <a:pPr fontAlgn="base">
              <a:lnSpc>
                <a:spcPct val="90000"/>
              </a:lnSpc>
              <a:buClr>
                <a:srgbClr val="236292"/>
              </a:buClr>
            </a:pPr>
            <a:r>
              <a:rPr lang="en-US" sz="2400" dirty="0">
                <a:ln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Division status</a:t>
            </a:r>
          </a:p>
          <a:p>
            <a:pPr>
              <a:buClr>
                <a:srgbClr val="236292"/>
              </a:buClr>
              <a:buFont typeface="Wingdings" panose="05000000000000000000" charset="0"/>
              <a:buChar char="l"/>
            </a:pPr>
            <a:endParaRPr lang="en-US" sz="2400" dirty="0">
              <a:ln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91800" y="609600"/>
            <a:ext cx="8082201" cy="1320800"/>
          </a:xfrm>
        </p:spPr>
        <p:txBody>
          <a:bodyPr>
            <a:noAutofit/>
          </a:bodyPr>
          <a:lstStyle/>
          <a:p>
            <a:r>
              <a:rPr lang="en-US" sz="5400" b="1" u="sng" dirty="0" err="1" smtClean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QuadTree</a:t>
            </a:r>
            <a:r>
              <a:rPr lang="en-US" sz="5400" b="1" u="sng" dirty="0" smtClean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Insertion:</a:t>
            </a:r>
            <a:endParaRPr lang="en-US" sz="5400" b="1" u="sng" dirty="0">
              <a:solidFill>
                <a:schemeClr val="accent2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91801" y="2036445"/>
            <a:ext cx="7453723" cy="3788410"/>
          </a:xfrm>
        </p:spPr>
        <p:style>
          <a:lnRef idx="2">
            <a:schemeClr val="accent2"/>
          </a:lnRef>
          <a:fillRef idx="2">
            <a:schemeClr val="accent2"/>
          </a:fillRef>
          <a:effectRef idx="0">
            <a:srgbClr val="FFFFFF"/>
          </a:effectRef>
          <a:fontRef idx="minor">
            <a:schemeClr val="lt1"/>
          </a:fontRef>
        </p:style>
        <p:txBody>
          <a:bodyPr/>
          <a:lstStyle/>
          <a:p>
            <a:pPr>
              <a:buClr>
                <a:srgbClr val="236292"/>
              </a:buClr>
              <a:buFont typeface="Wingdings" panose="05000000000000000000" charset="0"/>
              <a:buChar char="q"/>
            </a:pPr>
            <a:endParaRPr lang="en-US" sz="2400" dirty="0">
              <a:ln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fontAlgn="base">
              <a:lnSpc>
                <a:spcPct val="90000"/>
              </a:lnSpc>
              <a:buClr>
                <a:srgbClr val="236292"/>
              </a:buClr>
            </a:pPr>
            <a:r>
              <a:rPr lang="en-US" sz="2400" dirty="0">
                <a:ln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Check if location lies inside boundary</a:t>
            </a:r>
          </a:p>
          <a:p>
            <a:pPr fontAlgn="base">
              <a:lnSpc>
                <a:spcPct val="90000"/>
              </a:lnSpc>
              <a:buClr>
                <a:srgbClr val="236292"/>
              </a:buClr>
            </a:pPr>
            <a:r>
              <a:rPr lang="en-US" sz="2400" dirty="0">
                <a:ln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If capacity is not full → insert</a:t>
            </a:r>
          </a:p>
          <a:p>
            <a:pPr fontAlgn="base">
              <a:lnSpc>
                <a:spcPct val="90000"/>
              </a:lnSpc>
              <a:buClr>
                <a:srgbClr val="236292"/>
              </a:buClr>
            </a:pPr>
            <a:r>
              <a:rPr lang="en-US" sz="2400" dirty="0">
                <a:ln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If full → subdivide node</a:t>
            </a:r>
          </a:p>
          <a:p>
            <a:pPr fontAlgn="base">
              <a:lnSpc>
                <a:spcPct val="90000"/>
              </a:lnSpc>
              <a:buClr>
                <a:srgbClr val="236292"/>
              </a:buClr>
            </a:pPr>
            <a:r>
              <a:rPr lang="en-US" sz="2400" dirty="0">
                <a:ln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Redistribute existing locations</a:t>
            </a:r>
          </a:p>
          <a:p>
            <a:pPr fontAlgn="base">
              <a:lnSpc>
                <a:spcPct val="90000"/>
              </a:lnSpc>
              <a:buClr>
                <a:srgbClr val="236292"/>
              </a:buClr>
            </a:pPr>
            <a:r>
              <a:rPr lang="en-US" sz="2400" dirty="0">
                <a:ln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Insert recursively into child nodes</a:t>
            </a:r>
          </a:p>
          <a:p>
            <a:pPr>
              <a:buClr>
                <a:srgbClr val="236292"/>
              </a:buClr>
              <a:buFont typeface="Wingdings" panose="05000000000000000000" charset="0"/>
              <a:buChar char="q"/>
            </a:pPr>
            <a:endParaRPr lang="en-US" sz="2400" dirty="0">
              <a:ln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14874" y="520065"/>
            <a:ext cx="8596668" cy="1320800"/>
          </a:xfrm>
        </p:spPr>
        <p:txBody>
          <a:bodyPr>
            <a:noAutofit/>
          </a:bodyPr>
          <a:lstStyle/>
          <a:p>
            <a:r>
              <a:rPr lang="en-US" sz="5400" b="1" u="sng" dirty="0" smtClean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Search Operation:</a:t>
            </a:r>
            <a:r>
              <a:rPr lang="en-US" sz="5400" b="1" u="sng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sz="5400" b="1" u="sng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5400" b="1" u="sng" dirty="0">
              <a:solidFill>
                <a:schemeClr val="accent2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14874" y="1964155"/>
            <a:ext cx="7914005" cy="3260725"/>
          </a:xfrm>
        </p:spPr>
        <p:style>
          <a:lnRef idx="2">
            <a:schemeClr val="accent2"/>
          </a:lnRef>
          <a:fillRef idx="2">
            <a:schemeClr val="accent2"/>
          </a:fillRef>
          <a:effectRef idx="0">
            <a:srgbClr val="FFFFFF"/>
          </a:effectRef>
          <a:fontRef idx="minor">
            <a:schemeClr val="lt1"/>
          </a:fontRef>
        </p:style>
        <p:txBody>
          <a:bodyPr>
            <a:normAutofit lnSpcReduction="10000"/>
          </a:bodyPr>
          <a:lstStyle/>
          <a:p>
            <a:pPr>
              <a:buClr>
                <a:srgbClr val="236292"/>
              </a:buClr>
              <a:buFont typeface="Wingdings" panose="05000000000000000000" charset="0"/>
              <a:buChar char="q"/>
            </a:pPr>
            <a:endParaRPr lang="en-US" sz="2400" dirty="0">
              <a:ln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fontAlgn="base">
              <a:buClr>
                <a:srgbClr val="236292"/>
              </a:buClr>
            </a:pPr>
            <a:r>
              <a:rPr lang="en-US" sz="2400" dirty="0" smtClean="0">
                <a:ln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Supports </a:t>
            </a:r>
            <a:r>
              <a:rPr lang="en-US" sz="2400" dirty="0">
                <a:ln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searching by:</a:t>
            </a:r>
          </a:p>
          <a:p>
            <a:pPr fontAlgn="base">
              <a:buClr>
                <a:srgbClr val="236292"/>
              </a:buClr>
            </a:pPr>
            <a:r>
              <a:rPr lang="en-US" sz="2400" dirty="0">
                <a:ln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Location Name</a:t>
            </a:r>
          </a:p>
          <a:p>
            <a:pPr fontAlgn="base">
              <a:buClr>
                <a:srgbClr val="236292"/>
              </a:buClr>
            </a:pPr>
            <a:r>
              <a:rPr lang="en-US" sz="2400" dirty="0">
                <a:ln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Location ID</a:t>
            </a:r>
          </a:p>
          <a:p>
            <a:pPr fontAlgn="base">
              <a:buClr>
                <a:srgbClr val="236292"/>
              </a:buClr>
            </a:pPr>
            <a:r>
              <a:rPr lang="en-US" sz="2400" u="sng" dirty="0">
                <a:ln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Method:</a:t>
            </a:r>
          </a:p>
          <a:p>
            <a:pPr fontAlgn="base">
              <a:buClr>
                <a:srgbClr val="236292"/>
              </a:buClr>
            </a:pPr>
            <a:r>
              <a:rPr lang="en-US" sz="2400" dirty="0">
                <a:ln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Check current node</a:t>
            </a:r>
          </a:p>
          <a:p>
            <a:pPr fontAlgn="base">
              <a:buClr>
                <a:srgbClr val="236292"/>
              </a:buClr>
            </a:pPr>
            <a:r>
              <a:rPr lang="en-US" sz="2400" dirty="0">
                <a:ln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If not found, search child nodes recursively</a:t>
            </a:r>
          </a:p>
          <a:p>
            <a:pPr fontAlgn="base">
              <a:buClr>
                <a:srgbClr val="236292"/>
              </a:buClr>
            </a:pPr>
            <a:endParaRPr lang="en-US" sz="2400" dirty="0">
              <a:ln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545" y="609600"/>
            <a:ext cx="8507095" cy="1868170"/>
          </a:xfrm>
        </p:spPr>
        <p:txBody>
          <a:bodyPr>
            <a:noAutofit/>
          </a:bodyPr>
          <a:lstStyle/>
          <a:p>
            <a:pPr algn="ctr"/>
            <a:r>
              <a:rPr lang="en-US" sz="5400" b="1" u="sng" dirty="0" smtClean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Range Query &amp; Counting:</a:t>
            </a:r>
            <a:endParaRPr lang="en-US" sz="5400" b="1" u="sng" dirty="0">
              <a:solidFill>
                <a:schemeClr val="accent2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58862" y="2174019"/>
            <a:ext cx="7744460" cy="3224530"/>
          </a:xfrm>
        </p:spPr>
        <p:style>
          <a:lnRef idx="2">
            <a:schemeClr val="accent2"/>
          </a:lnRef>
          <a:fillRef idx="2">
            <a:schemeClr val="accent2"/>
          </a:fillRef>
          <a:effectRef idx="0">
            <a:srgbClr val="FFFFFF"/>
          </a:effectRef>
          <a:fontRef idx="minor">
            <a:schemeClr val="lt1"/>
          </a:fontRef>
        </p:style>
        <p:txBody>
          <a:bodyPr/>
          <a:lstStyle/>
          <a:p>
            <a:pPr>
              <a:buClr>
                <a:srgbClr val="236292"/>
              </a:buClr>
              <a:buFont typeface="Wingdings" panose="05000000000000000000" charset="0"/>
              <a:buChar char="l"/>
            </a:pPr>
            <a:endParaRPr lang="en-US" sz="2400" dirty="0">
              <a:ln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fontAlgn="base">
              <a:buClr>
                <a:srgbClr val="236292"/>
              </a:buClr>
            </a:pPr>
            <a:r>
              <a:rPr lang="en-US" sz="2400" dirty="0" smtClean="0">
                <a:ln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dirty="0">
                <a:ln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Count locations inside a specific area</a:t>
            </a:r>
          </a:p>
          <a:p>
            <a:pPr lvl="0" fontAlgn="base">
              <a:buClr>
                <a:srgbClr val="236292"/>
              </a:buClr>
            </a:pPr>
            <a:r>
              <a:rPr lang="en-US" altLang="en-US" sz="2400" dirty="0">
                <a:ln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Uses bounding box intersection</a:t>
            </a:r>
          </a:p>
          <a:p>
            <a:pPr lvl="0" fontAlgn="base">
              <a:buClr>
                <a:srgbClr val="236292"/>
              </a:buClr>
            </a:pPr>
            <a:r>
              <a:rPr lang="en-US" altLang="en-US" sz="2400" dirty="0">
                <a:ln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Avoids unnecessary searching</a:t>
            </a:r>
          </a:p>
          <a:p>
            <a:pPr lvl="0" fontAlgn="base">
              <a:buClr>
                <a:srgbClr val="236292"/>
              </a:buClr>
            </a:pPr>
            <a:r>
              <a:rPr lang="en-US" altLang="en-US" sz="2400" dirty="0">
                <a:ln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Efficient for area-based queries</a:t>
            </a:r>
          </a:p>
          <a:p>
            <a:pPr>
              <a:buClr>
                <a:srgbClr val="236292"/>
              </a:buClr>
              <a:buFont typeface="Wingdings" panose="05000000000000000000" charset="0"/>
              <a:buChar char="l"/>
            </a:pPr>
            <a:endParaRPr lang="en-US" sz="2400" dirty="0">
              <a:ln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545" y="609600"/>
            <a:ext cx="8596630" cy="1885950"/>
          </a:xfrm>
        </p:spPr>
        <p:txBody>
          <a:bodyPr>
            <a:noAutofit/>
          </a:bodyPr>
          <a:lstStyle/>
          <a:p>
            <a:pPr algn="ctr"/>
            <a:r>
              <a:rPr lang="en-US" sz="5400" b="1" u="sng" dirty="0" smtClean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Nearest Neighbor Search:</a:t>
            </a:r>
            <a:r>
              <a:rPr lang="en-US" sz="5400" b="1" u="sng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sz="5400" b="1" u="sng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5400" b="1" u="sng" dirty="0">
              <a:solidFill>
                <a:schemeClr val="accent2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75385" y="2233673"/>
            <a:ext cx="7600950" cy="2929255"/>
          </a:xfrm>
        </p:spPr>
        <p:style>
          <a:lnRef idx="2">
            <a:schemeClr val="accent2"/>
          </a:lnRef>
          <a:fillRef idx="2">
            <a:schemeClr val="accent2"/>
          </a:fillRef>
          <a:effectRef idx="0">
            <a:srgbClr val="FFFFFF"/>
          </a:effectRef>
          <a:fontRef idx="minor">
            <a:schemeClr val="lt1"/>
          </a:fontRef>
        </p:style>
        <p:txBody>
          <a:bodyPr>
            <a:normAutofit/>
          </a:bodyPr>
          <a:lstStyle/>
          <a:p>
            <a:pPr lvl="0" fontAlgn="base">
              <a:buClr>
                <a:srgbClr val="236292"/>
              </a:buClr>
            </a:pPr>
            <a:r>
              <a:rPr lang="en-US" sz="2400" dirty="0">
                <a:ln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altLang="en-US" sz="2400" dirty="0">
                <a:ln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Calculates distance using Euclidean formula</a:t>
            </a:r>
          </a:p>
          <a:p>
            <a:pPr lvl="0" fontAlgn="base">
              <a:buClr>
                <a:srgbClr val="236292"/>
              </a:buClr>
            </a:pPr>
            <a:r>
              <a:rPr lang="en-US" altLang="en-US" sz="2400" dirty="0">
                <a:ln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Finds closest location to the user</a:t>
            </a:r>
          </a:p>
          <a:p>
            <a:pPr lvl="0" fontAlgn="base">
              <a:buClr>
                <a:srgbClr val="236292"/>
              </a:buClr>
            </a:pPr>
            <a:r>
              <a:rPr lang="en-US" altLang="en-US" sz="2400" u="sng" dirty="0">
                <a:ln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Used for:</a:t>
            </a:r>
          </a:p>
          <a:p>
            <a:pPr lvl="0" fontAlgn="base">
              <a:buClr>
                <a:srgbClr val="236292"/>
              </a:buClr>
            </a:pPr>
            <a:r>
              <a:rPr lang="en-US" altLang="en-US" sz="2400" dirty="0">
                <a:ln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Nearest cab</a:t>
            </a:r>
          </a:p>
          <a:p>
            <a:pPr lvl="0" fontAlgn="base">
              <a:buClr>
                <a:srgbClr val="236292"/>
              </a:buClr>
            </a:pPr>
            <a:r>
              <a:rPr lang="en-US" altLang="en-US" sz="2400" dirty="0">
                <a:ln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Nearest hospital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91110" y="609600"/>
            <a:ext cx="9756067" cy="1320800"/>
          </a:xfrm>
        </p:spPr>
        <p:txBody>
          <a:bodyPr>
            <a:noAutofit/>
          </a:bodyPr>
          <a:lstStyle/>
          <a:p>
            <a:r>
              <a:rPr lang="en-US" sz="5400" b="1" u="sng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Real-World Application: Ride Sharing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06867" y="2517169"/>
            <a:ext cx="7368783" cy="3575406"/>
          </a:xfrm>
        </p:spPr>
        <p:style>
          <a:lnRef idx="2">
            <a:schemeClr val="accent2"/>
          </a:lnRef>
          <a:fillRef idx="2">
            <a:schemeClr val="accent2"/>
          </a:fillRef>
          <a:effectRef idx="0">
            <a:srgbClr val="FFFFFF"/>
          </a:effectRef>
          <a:fontRef idx="minor">
            <a:schemeClr val="lt1"/>
          </a:fontRef>
        </p:style>
        <p:txBody>
          <a:bodyPr>
            <a:normAutofit/>
          </a:bodyPr>
          <a:lstStyle/>
          <a:p>
            <a:pPr>
              <a:buClr>
                <a:srgbClr val="236292"/>
              </a:buClr>
              <a:buFont typeface="Wingdings" panose="05000000000000000000" charset="0"/>
              <a:buChar char="Ø"/>
            </a:pPr>
            <a:endParaRPr lang="en-US" sz="2400" dirty="0">
              <a:ln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fontAlgn="base">
              <a:buClr>
                <a:srgbClr val="236292"/>
              </a:buClr>
            </a:pPr>
            <a:r>
              <a:rPr lang="en-US" sz="2400" dirty="0" smtClean="0">
                <a:ln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ln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Cabs stored as locations</a:t>
            </a:r>
          </a:p>
          <a:p>
            <a:pPr fontAlgn="base">
              <a:buClr>
                <a:srgbClr val="236292"/>
              </a:buClr>
            </a:pPr>
            <a:r>
              <a:rPr lang="en-US" sz="2400" dirty="0">
                <a:ln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User enters current coordinates</a:t>
            </a:r>
          </a:p>
          <a:p>
            <a:pPr fontAlgn="base">
              <a:buClr>
                <a:srgbClr val="236292"/>
              </a:buClr>
            </a:pPr>
            <a:r>
              <a:rPr lang="en-US" sz="2400" dirty="0">
                <a:ln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System finds nearest cab</a:t>
            </a:r>
          </a:p>
          <a:p>
            <a:pPr fontAlgn="base">
              <a:buClr>
                <a:srgbClr val="236292"/>
              </a:buClr>
            </a:pPr>
            <a:r>
              <a:rPr lang="en-US" sz="2400" dirty="0">
                <a:ln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Estimates arrival time</a:t>
            </a:r>
          </a:p>
          <a:p>
            <a:pPr fontAlgn="base">
              <a:buClr>
                <a:srgbClr val="236292"/>
              </a:buClr>
            </a:pPr>
            <a:r>
              <a:rPr lang="en-US" sz="2400" u="sng" dirty="0">
                <a:ln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Example:</a:t>
            </a:r>
          </a:p>
          <a:p>
            <a:pPr fontAlgn="base">
              <a:buClr>
                <a:srgbClr val="236292"/>
              </a:buClr>
            </a:pPr>
            <a:r>
              <a:rPr lang="en-US" sz="2400" dirty="0">
                <a:ln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Uber / </a:t>
            </a:r>
            <a:r>
              <a:rPr lang="en-US" sz="2400" dirty="0" err="1">
                <a:ln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Careem</a:t>
            </a:r>
            <a:r>
              <a:rPr lang="en-US" sz="2400" dirty="0">
                <a:ln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style feature</a:t>
            </a:r>
          </a:p>
          <a:p>
            <a:pPr>
              <a:buClr>
                <a:srgbClr val="236292"/>
              </a:buClr>
              <a:buFont typeface="Wingdings" panose="05000000000000000000" charset="0"/>
              <a:buChar char="Ø"/>
            </a:pPr>
            <a:endParaRPr lang="en-US" sz="2400" dirty="0">
              <a:ln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1933" y="511175"/>
            <a:ext cx="10130374" cy="1320800"/>
          </a:xfrm>
        </p:spPr>
        <p:txBody>
          <a:bodyPr>
            <a:noAutofit/>
          </a:bodyPr>
          <a:lstStyle/>
          <a:p>
            <a:r>
              <a:rPr lang="en-US" sz="5400" b="1" u="sng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Real-World Application: </a:t>
            </a:r>
            <a:r>
              <a:rPr lang="en-US" sz="5400" b="1" u="sng" dirty="0" smtClean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Restaurants</a:t>
            </a:r>
            <a:endParaRPr lang="en-US" sz="5400" b="1" u="sng" dirty="0">
              <a:solidFill>
                <a:schemeClr val="accent2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21933" y="2650733"/>
            <a:ext cx="7725167" cy="2951237"/>
          </a:xfrm>
        </p:spPr>
        <p:style>
          <a:lnRef idx="2">
            <a:schemeClr val="accent2"/>
          </a:lnRef>
          <a:fillRef idx="2">
            <a:schemeClr val="accent2"/>
          </a:fillRef>
          <a:effectRef idx="0">
            <a:srgbClr val="FFFFFF"/>
          </a:effectRef>
          <a:fontRef idx="minor">
            <a:schemeClr val="lt1"/>
          </a:fontRef>
        </p:style>
        <p:txBody>
          <a:bodyPr>
            <a:normAutofit/>
          </a:bodyPr>
          <a:lstStyle/>
          <a:p>
            <a:pPr fontAlgn="base">
              <a:buClr>
                <a:srgbClr val="236292"/>
              </a:buClr>
            </a:pPr>
            <a:endParaRPr lang="en-US" sz="2400" dirty="0">
              <a:ln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fontAlgn="base">
              <a:buClr>
                <a:srgbClr val="236292"/>
              </a:buClr>
            </a:pPr>
            <a:r>
              <a:rPr lang="en-US" sz="2400" dirty="0">
                <a:ln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dirty="0">
                <a:ln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Finds K nearest restaurants</a:t>
            </a:r>
          </a:p>
          <a:p>
            <a:pPr lvl="0" fontAlgn="base">
              <a:buClr>
                <a:srgbClr val="236292"/>
              </a:buClr>
            </a:pPr>
            <a:r>
              <a:rPr lang="en-US" altLang="en-US" sz="2400" dirty="0">
                <a:ln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Sorts results by distance</a:t>
            </a:r>
          </a:p>
          <a:p>
            <a:pPr lvl="0" fontAlgn="base">
              <a:buClr>
                <a:srgbClr val="236292"/>
              </a:buClr>
            </a:pPr>
            <a:r>
              <a:rPr lang="en-US" altLang="en-US" sz="2400" dirty="0">
                <a:ln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Useful for food delivery apps</a:t>
            </a:r>
          </a:p>
          <a:p>
            <a:pPr lvl="0" fontAlgn="base">
              <a:buClr>
                <a:srgbClr val="236292"/>
              </a:buClr>
            </a:pPr>
            <a:r>
              <a:rPr lang="en-US" altLang="en-US" sz="2400" dirty="0">
                <a:ln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Improves user experience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3028" y="609600"/>
            <a:ext cx="8410973" cy="1320800"/>
          </a:xfrm>
        </p:spPr>
        <p:txBody>
          <a:bodyPr>
            <a:noAutofit/>
          </a:bodyPr>
          <a:lstStyle/>
          <a:p>
            <a:r>
              <a:rPr lang="en-US" sz="5400" b="1" u="sng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Real-World Application: </a:t>
            </a:r>
            <a:r>
              <a:rPr lang="en-US" sz="5400" b="1" u="sng" dirty="0" smtClean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Social Media</a:t>
            </a:r>
            <a:endParaRPr lang="en-US" sz="5400" b="1" u="sng" dirty="0">
              <a:solidFill>
                <a:schemeClr val="accent2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Content Placeholder 2"/>
          <p:cNvSpPr>
            <a:spLocks noGrp="1"/>
          </p:cNvSpPr>
          <p:nvPr>
            <p:ph idx="1"/>
          </p:nvPr>
        </p:nvSpPr>
        <p:spPr>
          <a:xfrm>
            <a:off x="955496" y="2609636"/>
            <a:ext cx="8318505" cy="3431726"/>
          </a:xfrm>
        </p:spPr>
        <p:style>
          <a:lnRef idx="2">
            <a:schemeClr val="accent2"/>
          </a:lnRef>
          <a:fillRef idx="2">
            <a:schemeClr val="accent2"/>
          </a:fillRef>
          <a:effectRef idx="0">
            <a:srgbClr val="FFFFFF"/>
          </a:effectRef>
          <a:fontRef idx="minor">
            <a:schemeClr val="lt1"/>
          </a:fontRef>
        </p:style>
        <p:txBody>
          <a:bodyPr/>
          <a:lstStyle/>
          <a:p>
            <a:pPr fontAlgn="base">
              <a:buClr>
                <a:srgbClr val="236292"/>
              </a:buClr>
            </a:pPr>
            <a:endParaRPr lang="en-US" sz="2400" dirty="0">
              <a:ln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fontAlgn="base">
              <a:buClr>
                <a:srgbClr val="236292"/>
              </a:buClr>
            </a:pPr>
            <a:r>
              <a:rPr lang="en-US" sz="2400" dirty="0">
                <a:ln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dirty="0">
                <a:ln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Finds nearby friends</a:t>
            </a:r>
          </a:p>
          <a:p>
            <a:pPr fontAlgn="base">
              <a:buClr>
                <a:srgbClr val="236292"/>
              </a:buClr>
            </a:pPr>
            <a:r>
              <a:rPr lang="en-US" altLang="en-US" sz="2400" dirty="0">
                <a:ln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Uses range query</a:t>
            </a:r>
          </a:p>
          <a:p>
            <a:pPr fontAlgn="base">
              <a:buClr>
                <a:srgbClr val="236292"/>
              </a:buClr>
            </a:pPr>
            <a:r>
              <a:rPr lang="en-US" altLang="en-US" sz="2400" u="sng" dirty="0">
                <a:ln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Similar to:</a:t>
            </a:r>
          </a:p>
          <a:p>
            <a:pPr fontAlgn="base">
              <a:buClr>
                <a:srgbClr val="236292"/>
              </a:buClr>
            </a:pPr>
            <a:r>
              <a:rPr lang="en-US" altLang="en-US" sz="2400" dirty="0">
                <a:ln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Facebook Nearby Friends</a:t>
            </a:r>
          </a:p>
          <a:p>
            <a:pPr fontAlgn="base">
              <a:buClr>
                <a:srgbClr val="236292"/>
              </a:buClr>
            </a:pPr>
            <a:r>
              <a:rPr lang="en-US" altLang="en-US" sz="2400" dirty="0">
                <a:ln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Snapchat Map</a:t>
            </a:r>
          </a:p>
          <a:p>
            <a:pPr>
              <a:buClr>
                <a:srgbClr val="236292"/>
              </a:buClr>
              <a:buFont typeface="Wingdings" panose="05000000000000000000" charset="0"/>
              <a:buChar char="q"/>
            </a:pPr>
            <a:endParaRPr lang="en-US" sz="2400" dirty="0">
              <a:ln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7858432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55496" y="609600"/>
            <a:ext cx="8318506" cy="1320800"/>
          </a:xfrm>
        </p:spPr>
        <p:txBody>
          <a:bodyPr>
            <a:noAutofit/>
          </a:bodyPr>
          <a:lstStyle/>
          <a:p>
            <a:r>
              <a:rPr lang="en-US" sz="5400" b="1" u="sng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Real-World Application: </a:t>
            </a:r>
            <a:r>
              <a:rPr lang="en-US" sz="5400" b="1" u="sng" dirty="0" smtClean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Emergency System</a:t>
            </a:r>
            <a:endParaRPr lang="en-US" sz="5400" b="1" u="sng" dirty="0">
              <a:solidFill>
                <a:schemeClr val="accent2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Content Placeholder 2"/>
          <p:cNvSpPr>
            <a:spLocks noGrp="1"/>
          </p:cNvSpPr>
          <p:nvPr>
            <p:ph idx="1"/>
          </p:nvPr>
        </p:nvSpPr>
        <p:spPr>
          <a:xfrm>
            <a:off x="955496" y="2589088"/>
            <a:ext cx="8318505" cy="3452274"/>
          </a:xfrm>
        </p:spPr>
        <p:style>
          <a:lnRef idx="2">
            <a:schemeClr val="accent2"/>
          </a:lnRef>
          <a:fillRef idx="2">
            <a:schemeClr val="accent2"/>
          </a:fillRef>
          <a:effectRef idx="0">
            <a:srgbClr val="FFFFFF"/>
          </a:effectRef>
          <a:fontRef idx="minor">
            <a:schemeClr val="lt1"/>
          </a:fontRef>
        </p:style>
        <p:txBody>
          <a:bodyPr>
            <a:normAutofit/>
          </a:bodyPr>
          <a:lstStyle/>
          <a:p>
            <a:pPr fontAlgn="base">
              <a:buClr>
                <a:srgbClr val="236292"/>
              </a:buClr>
            </a:pPr>
            <a:endParaRPr lang="en-US" sz="2400" dirty="0">
              <a:ln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fontAlgn="base">
              <a:buClr>
                <a:srgbClr val="236292"/>
              </a:buClr>
            </a:pPr>
            <a:r>
              <a:rPr lang="en-US" sz="2400" dirty="0">
                <a:ln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dirty="0">
                <a:ln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Stores hospital locations</a:t>
            </a:r>
          </a:p>
          <a:p>
            <a:pPr lvl="0" fontAlgn="base">
              <a:buClr>
                <a:srgbClr val="236292"/>
              </a:buClr>
            </a:pPr>
            <a:r>
              <a:rPr lang="en-US" altLang="en-US" sz="2400" dirty="0">
                <a:ln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Finds nearest hospital during emergency</a:t>
            </a:r>
          </a:p>
          <a:p>
            <a:pPr lvl="0" fontAlgn="base">
              <a:buClr>
                <a:srgbClr val="236292"/>
              </a:buClr>
            </a:pPr>
            <a:r>
              <a:rPr lang="en-US" altLang="en-US" sz="2400" dirty="0">
                <a:ln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Calculates distance and ETA</a:t>
            </a:r>
          </a:p>
          <a:p>
            <a:pPr lvl="0" fontAlgn="base">
              <a:buClr>
                <a:srgbClr val="236292"/>
              </a:buClr>
            </a:pPr>
            <a:r>
              <a:rPr lang="en-US" altLang="en-US" sz="2400" dirty="0">
                <a:ln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Useful in disaster management</a:t>
            </a:r>
          </a:p>
        </p:txBody>
      </p:sp>
    </p:spTree>
    <p:extLst>
      <p:ext uri="{BB962C8B-B14F-4D97-AF65-F5344CB8AC3E}">
        <p14:creationId xmlns:p14="http://schemas.microsoft.com/office/powerpoint/2010/main" val="301719408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5400" b="1" u="sng" dirty="0" smtClean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Code Output:</a:t>
            </a:r>
            <a:endParaRPr lang="en-US" sz="5400" b="1" u="sng" dirty="0">
              <a:solidFill>
                <a:schemeClr val="accent2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sz="half"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493"/>
          <a:stretch/>
        </p:blipFill>
        <p:spPr>
          <a:xfrm>
            <a:off x="791110" y="2321960"/>
            <a:ext cx="4756935" cy="2958957"/>
          </a:xfrm>
          <a:prstGeom prst="rect">
            <a:avLst/>
          </a:prstGeom>
          <a:ln w="889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  <p:pic>
        <p:nvPicPr>
          <p:cNvPr id="6" name="Content Placeholder 5"/>
          <p:cNvPicPr>
            <a:picLocks noGrp="1" noChangeAspect="1"/>
          </p:cNvPicPr>
          <p:nvPr>
            <p:ph sz="half" idx="2"/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833"/>
          <a:stretch/>
        </p:blipFill>
        <p:spPr>
          <a:xfrm>
            <a:off x="5866544" y="1930400"/>
            <a:ext cx="4828853" cy="4018337"/>
          </a:xfrm>
          <a:prstGeom prst="rect">
            <a:avLst/>
          </a:prstGeom>
          <a:ln w="889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</p:spTree>
    <p:extLst>
      <p:ext uri="{BB962C8B-B14F-4D97-AF65-F5344CB8AC3E}">
        <p14:creationId xmlns:p14="http://schemas.microsoft.com/office/powerpoint/2010/main" val="104613600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5400" b="1" u="sng" dirty="0" smtClean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Code Output:</a:t>
            </a:r>
            <a:endParaRPr lang="en-US" sz="5400" b="1" u="sng" dirty="0">
              <a:solidFill>
                <a:schemeClr val="accent2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sz="half"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4792"/>
          <a:stretch/>
        </p:blipFill>
        <p:spPr>
          <a:xfrm>
            <a:off x="821933" y="2034284"/>
            <a:ext cx="4561725" cy="4253500"/>
          </a:xfrm>
          <a:prstGeom prst="rect">
            <a:avLst/>
          </a:prstGeom>
          <a:ln w="889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  <p:pic>
        <p:nvPicPr>
          <p:cNvPr id="6" name="Content Placeholder 5"/>
          <p:cNvPicPr>
            <a:picLocks noGrp="1" noChangeAspect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04899" y="2506893"/>
            <a:ext cx="4489807" cy="3164442"/>
          </a:xfrm>
          <a:prstGeom prst="rect">
            <a:avLst/>
          </a:prstGeom>
          <a:ln w="889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</p:spTree>
    <p:extLst>
      <p:ext uri="{BB962C8B-B14F-4D97-AF65-F5344CB8AC3E}">
        <p14:creationId xmlns:p14="http://schemas.microsoft.com/office/powerpoint/2010/main" val="157062799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55496" y="609600"/>
            <a:ext cx="8318505" cy="1320800"/>
          </a:xfrm>
        </p:spPr>
        <p:txBody>
          <a:bodyPr>
            <a:noAutofit/>
          </a:bodyPr>
          <a:lstStyle/>
          <a:p>
            <a:r>
              <a:rPr lang="en-US" sz="5400" b="1" u="sng" dirty="0" smtClean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Conclusion:</a:t>
            </a:r>
            <a:endParaRPr lang="en-US" sz="5400" b="1" u="sng" dirty="0">
              <a:solidFill>
                <a:schemeClr val="accent2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Content Placeholder 2"/>
          <p:cNvSpPr>
            <a:spLocks noGrp="1"/>
          </p:cNvSpPr>
          <p:nvPr>
            <p:ph idx="1"/>
          </p:nvPr>
        </p:nvSpPr>
        <p:spPr>
          <a:xfrm>
            <a:off x="1037690" y="2065106"/>
            <a:ext cx="8236312" cy="4284323"/>
          </a:xfrm>
        </p:spPr>
        <p:style>
          <a:lnRef idx="2">
            <a:schemeClr val="accent2"/>
          </a:lnRef>
          <a:fillRef idx="2">
            <a:schemeClr val="accent2"/>
          </a:fillRef>
          <a:effectRef idx="0">
            <a:srgbClr val="FFFFFF"/>
          </a:effectRef>
          <a:fontRef idx="minor">
            <a:schemeClr val="lt1"/>
          </a:fontRef>
        </p:style>
        <p:txBody>
          <a:bodyPr>
            <a:normAutofit/>
          </a:bodyPr>
          <a:lstStyle/>
          <a:p>
            <a:pPr lvl="0" fontAlgn="base">
              <a:buClr>
                <a:srgbClr val="236292"/>
              </a:buClr>
            </a:pPr>
            <a:r>
              <a:rPr lang="en-US" altLang="en-US" sz="2400" dirty="0" err="1">
                <a:ln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QuadTree</a:t>
            </a:r>
            <a:r>
              <a:rPr lang="en-US" altLang="en-US" sz="2400" dirty="0">
                <a:ln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dirty="0">
                <a:ln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is an efficient spatial data structure</a:t>
            </a:r>
          </a:p>
          <a:p>
            <a:pPr lvl="0" fontAlgn="base">
              <a:buClr>
                <a:srgbClr val="236292"/>
              </a:buClr>
            </a:pPr>
            <a:r>
              <a:rPr lang="en-US" altLang="en-US" sz="2400" dirty="0">
                <a:ln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Suitable </a:t>
            </a:r>
            <a:r>
              <a:rPr lang="en-US" altLang="en-US" sz="2400" dirty="0">
                <a:ln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for real-world applications</a:t>
            </a:r>
          </a:p>
          <a:p>
            <a:pPr lvl="0" fontAlgn="base">
              <a:buClr>
                <a:srgbClr val="236292"/>
              </a:buClr>
            </a:pPr>
            <a:r>
              <a:rPr lang="en-US" altLang="en-US" sz="2400" u="sng" dirty="0">
                <a:ln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Project demonstrates:</a:t>
            </a:r>
          </a:p>
          <a:p>
            <a:pPr lvl="0" fontAlgn="base">
              <a:buClr>
                <a:srgbClr val="236292"/>
              </a:buClr>
            </a:pPr>
            <a:r>
              <a:rPr lang="en-US" altLang="en-US" sz="2400" dirty="0">
                <a:ln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Insertion</a:t>
            </a:r>
          </a:p>
          <a:p>
            <a:pPr lvl="0" fontAlgn="base">
              <a:buClr>
                <a:srgbClr val="236292"/>
              </a:buClr>
            </a:pPr>
            <a:r>
              <a:rPr lang="en-US" altLang="en-US" sz="2400" dirty="0">
                <a:ln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Searching</a:t>
            </a:r>
          </a:p>
          <a:p>
            <a:pPr lvl="0" fontAlgn="base">
              <a:buClr>
                <a:srgbClr val="236292"/>
              </a:buClr>
            </a:pPr>
            <a:r>
              <a:rPr lang="en-US" altLang="en-US" sz="2400" dirty="0">
                <a:ln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Range queries</a:t>
            </a:r>
          </a:p>
          <a:p>
            <a:pPr lvl="0" fontAlgn="base">
              <a:buClr>
                <a:srgbClr val="236292"/>
              </a:buClr>
            </a:pPr>
            <a:r>
              <a:rPr lang="en-US" altLang="en-US" sz="2400" dirty="0">
                <a:ln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Nearest neighbor search</a:t>
            </a:r>
          </a:p>
          <a:p>
            <a:pPr lvl="0" fontAlgn="base">
              <a:buClr>
                <a:srgbClr val="236292"/>
              </a:buClr>
            </a:pPr>
            <a:r>
              <a:rPr lang="en-US" altLang="en-US" sz="2400" dirty="0">
                <a:ln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GUI enhances usability and visualization</a:t>
            </a:r>
          </a:p>
        </p:txBody>
      </p:sp>
    </p:spTree>
    <p:extLst>
      <p:ext uri="{BB962C8B-B14F-4D97-AF65-F5344CB8AC3E}">
        <p14:creationId xmlns:p14="http://schemas.microsoft.com/office/powerpoint/2010/main" val="387021850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1870" y="2140585"/>
            <a:ext cx="8596630" cy="2576830"/>
          </a:xfrm>
        </p:spPr>
        <p:txBody>
          <a:bodyPr>
            <a:noAutofit/>
          </a:bodyPr>
          <a:lstStyle/>
          <a:p>
            <a:pPr algn="ctr"/>
            <a:r>
              <a:rPr lang="en-US" sz="5400" b="1" u="sng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Thank You </a:t>
            </a:r>
            <a:br>
              <a:rPr lang="en-US" sz="5400" b="1" u="sng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5400" b="1" u="sng" dirty="0">
              <a:solidFill>
                <a:schemeClr val="accent2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5FCBEF"/>
      </a:accent1>
      <a:accent2>
        <a:srgbClr val="2E83C3"/>
      </a:accent2>
      <a:accent3>
        <a:srgbClr val="42D0A2"/>
      </a:accent3>
      <a:accent4>
        <a:srgbClr val="2E946B"/>
      </a:accent4>
      <a:accent5>
        <a:srgbClr val="42B051"/>
      </a:accent5>
      <a:accent6>
        <a:srgbClr val="96D141"/>
      </a:accent6>
      <a:hlink>
        <a:srgbClr val="3FCDE7"/>
      </a:hlink>
      <a:folHlink>
        <a:srgbClr val="A9D3E1"/>
      </a:folHlink>
    </a:clrScheme>
    <a:fontScheme name="Facet">
      <a:majorFont>
        <a:latin typeface="Trebuchet MS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Facet">
    <a:dk1>
      <a:sysClr val="windowText" lastClr="000000"/>
    </a:dk1>
    <a:lt1>
      <a:sysClr val="window" lastClr="FFFFFF"/>
    </a:lt1>
    <a:dk2>
      <a:srgbClr val="2C3C43"/>
    </a:dk2>
    <a:lt2>
      <a:srgbClr val="EBEBEB"/>
    </a:lt2>
    <a:accent1>
      <a:srgbClr val="5FCBEF"/>
    </a:accent1>
    <a:accent2>
      <a:srgbClr val="2E83C3"/>
    </a:accent2>
    <a:accent3>
      <a:srgbClr val="42D0A2"/>
    </a:accent3>
    <a:accent4>
      <a:srgbClr val="2E946B"/>
    </a:accent4>
    <a:accent5>
      <a:srgbClr val="42B051"/>
    </a:accent5>
    <a:accent6>
      <a:srgbClr val="96D141"/>
    </a:accent6>
    <a:hlink>
      <a:srgbClr val="3FCDE7"/>
    </a:hlink>
    <a:folHlink>
      <a:srgbClr val="A9D3E1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108</TotalTime>
  <Words>529</Words>
  <Application>Microsoft Office PowerPoint</Application>
  <PresentationFormat>Widescreen</PresentationFormat>
  <Paragraphs>151</Paragraphs>
  <Slides>23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9" baseType="lpstr">
      <vt:lpstr>Arial</vt:lpstr>
      <vt:lpstr>Times New Roman</vt:lpstr>
      <vt:lpstr>Trebuchet MS</vt:lpstr>
      <vt:lpstr>Wingdings</vt:lpstr>
      <vt:lpstr>Wingdings 3</vt:lpstr>
      <vt:lpstr>Facet</vt:lpstr>
      <vt:lpstr>Spatial Indexing System Using QuadTree</vt:lpstr>
      <vt:lpstr>Group Members: </vt:lpstr>
      <vt:lpstr>Introduction</vt:lpstr>
      <vt:lpstr>What is Spacial Indexing?</vt:lpstr>
      <vt:lpstr>Why QuadTree? </vt:lpstr>
      <vt:lpstr>What is QuadTree?</vt:lpstr>
      <vt:lpstr>Objective:</vt:lpstr>
      <vt:lpstr>Technologies Used:</vt:lpstr>
      <vt:lpstr>Location Structure:</vt:lpstr>
      <vt:lpstr>Bounding Box Structure:</vt:lpstr>
      <vt:lpstr>QuadTree Node Structure:</vt:lpstr>
      <vt:lpstr>QuadTree Insertion:</vt:lpstr>
      <vt:lpstr>Search Operation: </vt:lpstr>
      <vt:lpstr>Range Query &amp; Counting:</vt:lpstr>
      <vt:lpstr>Nearest Neighbor Search: </vt:lpstr>
      <vt:lpstr>Real-World Application: Ride Sharing</vt:lpstr>
      <vt:lpstr>Real-World Application: Restaurants</vt:lpstr>
      <vt:lpstr>Real-World Application: Social Media</vt:lpstr>
      <vt:lpstr>Real-World Application: Emergency System</vt:lpstr>
      <vt:lpstr>Code Output:</vt:lpstr>
      <vt:lpstr>Code Output:</vt:lpstr>
      <vt:lpstr>Conclusion:</vt:lpstr>
      <vt:lpstr>Thank You  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Spatial Indexing System Using QuadTree</dc:title>
  <dc:creator>haseeb manzoor</dc:creator>
  <cp:lastModifiedBy>Microsoft account</cp:lastModifiedBy>
  <cp:revision>12</cp:revision>
  <dcterms:created xsi:type="dcterms:W3CDTF">2025-12-26T11:06:00Z</dcterms:created>
  <dcterms:modified xsi:type="dcterms:W3CDTF">2026-01-01T13:57:21Z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0F3421A2C18642C98DCE33B2DE85C592_13</vt:lpwstr>
  </property>
  <property fmtid="{D5CDD505-2E9C-101B-9397-08002B2CF9AE}" pid="3" name="KSOProductBuildVer">
    <vt:lpwstr>1033-12.2.0.23196</vt:lpwstr>
  </property>
</Properties>
</file>